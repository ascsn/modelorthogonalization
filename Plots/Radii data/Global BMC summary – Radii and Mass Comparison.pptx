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3" r:id="rId7"/>
    <p:sldId id="277" r:id="rId8"/>
    <p:sldId id="278" r:id="rId9"/>
    <p:sldId id="258" r:id="rId10"/>
    <p:sldId id="264" r:id="rId11"/>
    <p:sldId id="265" r:id="rId12"/>
    <p:sldId id="266" r:id="rId13"/>
    <p:sldId id="267" r:id="rId14"/>
    <p:sldId id="268" r:id="rId15"/>
    <p:sldId id="279" r:id="rId16"/>
    <p:sldId id="269" r:id="rId17"/>
    <p:sldId id="270" r:id="rId18"/>
    <p:sldId id="275" r:id="rId19"/>
    <p:sldId id="276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56C2-D95D-D96F-0349-D16F1F37A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E7599-FF61-DE55-0649-736CB45B2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E8F26-AFD4-E49A-2BCC-A27584C8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3E924-88B5-AF1D-8D90-6EC38482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7BAFF-A895-73B8-9929-9BE5B889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93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00F3-1FDB-8CF3-0B10-91BFB566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8666-9AFD-FA8C-02E2-33A18FD54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4FFBE-F0DA-9FBE-D400-813D48B3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89198-DAFD-3AA9-C925-2DF6C22C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63098-C75F-B367-946B-FC8A6F07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C777-A475-D5CE-254E-ACFB9990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B31CF-CA2B-9829-8384-050E275AB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7A41B-F6E2-26B2-6DD4-979F0E19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AB0F7-5BE0-3F7B-D14B-762D382F1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2BFA-7F9A-CA7D-A5D5-1EF9993A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7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CAE0-C878-4B48-D41B-2E1820A3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0A344-5466-449A-CCF6-211D4F3BA8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CE3AC-8051-58AD-9892-3659FAE9F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A069E-817E-3ABB-4F0D-05EE7F9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15BA4-D9BD-2ECA-E3CC-5D132DCC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8429C-826D-37D0-EB56-3AC9DDF0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1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A84D-A5B3-94A5-39B8-669F2814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2DF6-A517-F276-A5DE-4E18BF462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ADF04-59C7-6637-B8E3-3F75737B9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6B710-93A4-4FCD-6773-B04EE3AF9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E5000-7190-2322-C96A-7348FE108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04360-9D3F-0C72-E8DA-21A759846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42939-523F-771E-5512-9164CD18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71EFEC-EC91-0B1C-710B-A2D11DA6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6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2889-C251-B28F-26E5-4BB4C03D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1842E-F1DB-2B1C-0595-DCB5F78D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022B2-FA76-C37F-79BF-26245374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04C95-40B4-015E-BD9E-5E36310C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3781F-C72C-DBC5-5BE6-65A4BDA0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A063C-FB6F-8FB9-0A62-E75DFC8F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E68F-18DC-6581-A4D0-16BFE7E2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C85C-E64F-6D35-14C4-68D2A1C6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422BE-5ADD-CB37-1622-2E40F32C4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0D401-E07C-E69F-3CB4-D2AAAB6D8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9CD94-B638-5289-A1C9-55C55EC9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A0B52-7866-D42A-34AC-58040634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55B33-C262-0BBF-7D58-6E8A7EB0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3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AE5D-3138-25DA-0956-A6D64E7D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A4EBF-A782-7F8E-E20C-F09C60312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BF34C-0C62-9EDD-D620-744213889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F1DFA-3583-0B34-107B-FD43E832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ED6AD-53F7-AF80-AB50-641BEBF1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82975-8D22-B774-53F9-7D814277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0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F3CAE-089B-05DE-B7CF-AAA7E374F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6770FD-E89B-8399-2B3A-D63F60687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C0799-5F74-951B-FFB0-65C83EDF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B520-F0A6-8ACC-F4F1-F7B9B762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7FDD1-FE9F-9206-F9C1-F7870D69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4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9ADC2B-7997-7602-985E-A70CE95C5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0EC25-E5DD-B89B-4745-8C12AD035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E4C1E-CF69-43E8-8C16-0E8B064F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3DE3E-B122-8E2F-7448-A64BFE51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07B9-959F-41CE-C0C6-B9B08E01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4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910E7-CA19-1593-D982-7319AE16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66A8-2600-E81C-BABA-C650AC5BF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87920-5BAB-FDF7-F4BF-D8F995E06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18D54-32BA-4A3B-A385-EEAAF050EAD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E2C6C-84BE-192E-D9CB-62ED36C61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E768-A1C1-024B-CF78-0FCC9E907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CBF64-DE42-4918-A017-CB2B84E6C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F418-626E-E750-2CAC-2307EB7BAB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Global BMC summary – Radii and Mass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6D20E-04C6-F845-9CDD-DF758E448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0697"/>
            <a:ext cx="9144000" cy="718950"/>
          </a:xfrm>
        </p:spPr>
        <p:txBody>
          <a:bodyPr>
            <a:normAutofit fontScale="32500" lnSpcReduction="20000"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7200" b="1" i="0" u="none" strike="noStrike" dirty="0">
                <a:solidFill>
                  <a:srgbClr val="666666"/>
                </a:solidFill>
                <a:effectLst/>
                <a:latin typeface="Proxima Nova"/>
              </a:rPr>
              <a:t>An Le, Pablo Giuliani, Kyle </a:t>
            </a:r>
            <a:r>
              <a:rPr lang="en-US" sz="7200" b="1" i="0" u="none" strike="noStrike" dirty="0" err="1">
                <a:solidFill>
                  <a:srgbClr val="666666"/>
                </a:solidFill>
                <a:effectLst/>
                <a:latin typeface="Proxima Nova"/>
              </a:rPr>
              <a:t>Godbey</a:t>
            </a:r>
            <a:r>
              <a:rPr lang="en-US" sz="7200" b="1" i="0" u="none" strike="noStrike" dirty="0">
                <a:solidFill>
                  <a:srgbClr val="666666"/>
                </a:solidFill>
                <a:effectLst/>
                <a:latin typeface="Proxima Nova"/>
              </a:rPr>
              <a:t>, Witold </a:t>
            </a:r>
            <a:r>
              <a:rPr lang="en-US" sz="7200" b="1" i="0" u="none" strike="noStrike" dirty="0" err="1">
                <a:solidFill>
                  <a:srgbClr val="666666"/>
                </a:solidFill>
                <a:effectLst/>
                <a:latin typeface="Proxima Nova"/>
              </a:rPr>
              <a:t>Nazarewicz</a:t>
            </a:r>
            <a:endParaRPr lang="en-US" sz="7200" b="0" dirty="0">
              <a:effectLst/>
              <a:latin typeface="Proxima Nova"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70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mponents&#10;&#10;Description automatically generated">
            <a:extLst>
              <a:ext uri="{FF2B5EF4-FFF2-40B4-BE49-F238E27FC236}">
                <a16:creationId xmlns:a16="http://schemas.microsoft.com/office/drawing/2014/main" id="{99B2C3FA-1121-0BF2-AFAE-8EB02E701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89" y="47292"/>
            <a:ext cx="11243302" cy="6628872"/>
          </a:xfrm>
          <a:prstGeom prst="rect">
            <a:avLst/>
          </a:prstGeom>
        </p:spPr>
      </p:pic>
      <p:pic>
        <p:nvPicPr>
          <p:cNvPr id="27" name="Picture 26" descr="A graph of a graph&#10;&#10;Description automatically generated">
            <a:extLst>
              <a:ext uri="{FF2B5EF4-FFF2-40B4-BE49-F238E27FC236}">
                <a16:creationId xmlns:a16="http://schemas.microsoft.com/office/drawing/2014/main" id="{780F4999-3763-8EEC-2D30-6DB0B6793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20" y="4082790"/>
            <a:ext cx="2030710" cy="1399377"/>
          </a:xfrm>
          <a:prstGeom prst="rect">
            <a:avLst/>
          </a:prstGeom>
        </p:spPr>
      </p:pic>
      <p:pic>
        <p:nvPicPr>
          <p:cNvPr id="29" name="Picture 28" descr="A graph of a graph&#10;&#10;Description automatically generated">
            <a:extLst>
              <a:ext uri="{FF2B5EF4-FFF2-40B4-BE49-F238E27FC236}">
                <a16:creationId xmlns:a16="http://schemas.microsoft.com/office/drawing/2014/main" id="{1C286B83-6508-9AAB-5409-272B5164D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018" y="375878"/>
            <a:ext cx="2321199" cy="1599555"/>
          </a:xfrm>
          <a:prstGeom prst="rect">
            <a:avLst/>
          </a:prstGeom>
        </p:spPr>
      </p:pic>
      <p:pic>
        <p:nvPicPr>
          <p:cNvPr id="31" name="Picture 30" descr="A graph of a graph&#10;&#10;Description automatically generated">
            <a:extLst>
              <a:ext uri="{FF2B5EF4-FFF2-40B4-BE49-F238E27FC236}">
                <a16:creationId xmlns:a16="http://schemas.microsoft.com/office/drawing/2014/main" id="{CBE38C26-0161-8D43-7A81-0300DDC4EC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28" y="4817254"/>
            <a:ext cx="2030709" cy="1399376"/>
          </a:xfrm>
          <a:prstGeom prst="rect">
            <a:avLst/>
          </a:prstGeom>
        </p:spPr>
      </p:pic>
      <p:pic>
        <p:nvPicPr>
          <p:cNvPr id="41" name="Picture 40" descr="A graph of a graph&#10;&#10;Description automatically generated">
            <a:extLst>
              <a:ext uri="{FF2B5EF4-FFF2-40B4-BE49-F238E27FC236}">
                <a16:creationId xmlns:a16="http://schemas.microsoft.com/office/drawing/2014/main" id="{9A3703F7-BF71-D9BF-0F91-5218AA36D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525" y="1175655"/>
            <a:ext cx="2448824" cy="1687502"/>
          </a:xfrm>
          <a:prstGeom prst="rect">
            <a:avLst/>
          </a:prstGeom>
        </p:spPr>
      </p:pic>
      <p:pic>
        <p:nvPicPr>
          <p:cNvPr id="43" name="Picture 42" descr="A graph of a graph&#10;&#10;Description automatically generated">
            <a:extLst>
              <a:ext uri="{FF2B5EF4-FFF2-40B4-BE49-F238E27FC236}">
                <a16:creationId xmlns:a16="http://schemas.microsoft.com/office/drawing/2014/main" id="{BFD31A49-AA52-27E6-C72F-1F383E4ABB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853" y="2477043"/>
            <a:ext cx="2525614" cy="1769370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34CD45C-291F-F68E-6F1A-86F864016F38}"/>
              </a:ext>
            </a:extLst>
          </p:cNvPr>
          <p:cNvCxnSpPr/>
          <p:nvPr/>
        </p:nvCxnSpPr>
        <p:spPr>
          <a:xfrm flipV="1">
            <a:off x="2344783" y="3135086"/>
            <a:ext cx="966651" cy="947704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871DC4-DF9F-06E2-B9A9-DD624D2433F6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289618" y="1975433"/>
            <a:ext cx="366053" cy="1954096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E6D690-0939-5875-49FB-D2970E756866}"/>
              </a:ext>
            </a:extLst>
          </p:cNvPr>
          <p:cNvCxnSpPr>
            <a:cxnSpLocks/>
          </p:cNvCxnSpPr>
          <p:nvPr/>
        </p:nvCxnSpPr>
        <p:spPr>
          <a:xfrm flipV="1">
            <a:off x="4887580" y="3429000"/>
            <a:ext cx="1064460" cy="1269585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EB8E6AA-825C-164B-69FA-05181A44B9EC}"/>
              </a:ext>
            </a:extLst>
          </p:cNvPr>
          <p:cNvCxnSpPr>
            <a:cxnSpLocks/>
          </p:cNvCxnSpPr>
          <p:nvPr/>
        </p:nvCxnSpPr>
        <p:spPr>
          <a:xfrm flipH="1">
            <a:off x="7270663" y="2761550"/>
            <a:ext cx="104302" cy="1598185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27C9FB6-EC3F-5794-B909-4EE06D4A57E0}"/>
              </a:ext>
            </a:extLst>
          </p:cNvPr>
          <p:cNvCxnSpPr>
            <a:cxnSpLocks/>
          </p:cNvCxnSpPr>
          <p:nvPr/>
        </p:nvCxnSpPr>
        <p:spPr>
          <a:xfrm flipH="1">
            <a:off x="8462682" y="3842871"/>
            <a:ext cx="555812" cy="1183341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74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ACCC-5ABD-7883-0BCD-9A400592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Content Placeholder 15" descr="A graph of a graph showing a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F0B15B1A-D2E9-842E-EA74-0D8534D95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669" y="2865149"/>
            <a:ext cx="2962662" cy="2272289"/>
          </a:xfrm>
        </p:spPr>
      </p:pic>
      <p:pic>
        <p:nvPicPr>
          <p:cNvPr id="4" name="Picture 3" descr="A graph of different components&#10;&#10;Description automatically generated">
            <a:extLst>
              <a:ext uri="{FF2B5EF4-FFF2-40B4-BE49-F238E27FC236}">
                <a16:creationId xmlns:a16="http://schemas.microsoft.com/office/drawing/2014/main" id="{6C77D8BA-A78B-38AF-EE2E-AB6A95ECC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32" y="55420"/>
            <a:ext cx="11540555" cy="6804128"/>
          </a:xfrm>
          <a:prstGeom prst="rect">
            <a:avLst/>
          </a:prstGeom>
        </p:spPr>
      </p:pic>
      <p:pic>
        <p:nvPicPr>
          <p:cNvPr id="5" name="Picture 4" descr="A graph of a graph&#10;&#10;Description automatically generated">
            <a:extLst>
              <a:ext uri="{FF2B5EF4-FFF2-40B4-BE49-F238E27FC236}">
                <a16:creationId xmlns:a16="http://schemas.microsoft.com/office/drawing/2014/main" id="{A70B39CC-5D1E-1EBF-1CB7-2A26DE6C0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092" y="149319"/>
            <a:ext cx="3722837" cy="256543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FB80C8-759A-C721-8238-C462901AAEA2}"/>
              </a:ext>
            </a:extLst>
          </p:cNvPr>
          <p:cNvCxnSpPr>
            <a:cxnSpLocks/>
          </p:cNvCxnSpPr>
          <p:nvPr/>
        </p:nvCxnSpPr>
        <p:spPr>
          <a:xfrm flipH="1">
            <a:off x="3584448" y="2503627"/>
            <a:ext cx="621792" cy="723043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8" name="Picture 17" descr="A graph of a graph showing a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2BC66AD1-4CA2-7EA5-0FC2-195FD530B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52" y="4170441"/>
            <a:ext cx="3431843" cy="263213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BF9F13-40AA-2A2D-E318-68CB0D46F35B}"/>
              </a:ext>
            </a:extLst>
          </p:cNvPr>
          <p:cNvCxnSpPr>
            <a:cxnSpLocks/>
          </p:cNvCxnSpPr>
          <p:nvPr/>
        </p:nvCxnSpPr>
        <p:spPr>
          <a:xfrm flipV="1">
            <a:off x="2861056" y="3457484"/>
            <a:ext cx="552704" cy="769076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54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ACCC-5ABD-7883-0BCD-9A400592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aph of different components&#10;&#10;Description automatically generated">
            <a:extLst>
              <a:ext uri="{FF2B5EF4-FFF2-40B4-BE49-F238E27FC236}">
                <a16:creationId xmlns:a16="http://schemas.microsoft.com/office/drawing/2014/main" id="{6C77D8BA-A78B-38AF-EE2E-AB6A95ECC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4" y="0"/>
            <a:ext cx="11503465" cy="6782260"/>
          </a:xfrm>
          <a:prstGeom prst="rect">
            <a:avLst/>
          </a:prstGeom>
        </p:spPr>
      </p:pic>
      <p:pic>
        <p:nvPicPr>
          <p:cNvPr id="6" name="Picture 5" descr="A graph of a graph&#10;&#10;Description automatically generated">
            <a:extLst>
              <a:ext uri="{FF2B5EF4-FFF2-40B4-BE49-F238E27FC236}">
                <a16:creationId xmlns:a16="http://schemas.microsoft.com/office/drawing/2014/main" id="{ACEB4470-6099-9263-00F4-D7CC42180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849" y="214756"/>
            <a:ext cx="3846084" cy="26503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C2B154-A0A0-EF5D-D2B9-84071FECBFED}"/>
              </a:ext>
            </a:extLst>
          </p:cNvPr>
          <p:cNvCxnSpPr>
            <a:cxnSpLocks/>
          </p:cNvCxnSpPr>
          <p:nvPr/>
        </p:nvCxnSpPr>
        <p:spPr>
          <a:xfrm flipH="1">
            <a:off x="4559808" y="2865120"/>
            <a:ext cx="727456" cy="1040384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" name="Content Placeholder 12" descr="A graph of a graph showing a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0F907360-06DC-1A47-4A35-9EB12C2F7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27" y="4118860"/>
            <a:ext cx="3213687" cy="2464819"/>
          </a:xfr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CBBF8F-338F-88DA-84E4-C82B6AA30233}"/>
              </a:ext>
            </a:extLst>
          </p:cNvPr>
          <p:cNvCxnSpPr>
            <a:cxnSpLocks/>
          </p:cNvCxnSpPr>
          <p:nvPr/>
        </p:nvCxnSpPr>
        <p:spPr>
          <a:xfrm flipV="1">
            <a:off x="3629152" y="3950208"/>
            <a:ext cx="853440" cy="573024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23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mponents&#10;&#10;Description automatically generated">
            <a:extLst>
              <a:ext uri="{FF2B5EF4-FFF2-40B4-BE49-F238E27FC236}">
                <a16:creationId xmlns:a16="http://schemas.microsoft.com/office/drawing/2014/main" id="{364774DB-7E8F-D08E-2D66-B1BB71CBE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42" y="0"/>
            <a:ext cx="11503465" cy="6782260"/>
          </a:xfrm>
          <a:prstGeom prst="rect">
            <a:avLst/>
          </a:prstGeom>
        </p:spPr>
      </p:pic>
      <p:pic>
        <p:nvPicPr>
          <p:cNvPr id="13" name="Content Placeholder 12" descr="A graph of a graph showing a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F1FB0EBF-901A-397A-A602-85B8281C3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018" y="4296415"/>
            <a:ext cx="3196086" cy="2485845"/>
          </a:xfrm>
        </p:spPr>
      </p:pic>
      <p:pic>
        <p:nvPicPr>
          <p:cNvPr id="6" name="Picture 5" descr="A graph of a graph&#10;&#10;Description automatically generated">
            <a:extLst>
              <a:ext uri="{FF2B5EF4-FFF2-40B4-BE49-F238E27FC236}">
                <a16:creationId xmlns:a16="http://schemas.microsoft.com/office/drawing/2014/main" id="{6C82E520-8782-2736-B0E6-23C463A4C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727" y="249118"/>
            <a:ext cx="3330318" cy="229494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AFF851-B135-6AD4-1F04-218E448BC520}"/>
              </a:ext>
            </a:extLst>
          </p:cNvPr>
          <p:cNvCxnSpPr>
            <a:cxnSpLocks/>
          </p:cNvCxnSpPr>
          <p:nvPr/>
        </p:nvCxnSpPr>
        <p:spPr>
          <a:xfrm>
            <a:off x="5405120" y="2724611"/>
            <a:ext cx="589279" cy="1095549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C6838C-39CF-B874-D837-8262F839A9A9}"/>
              </a:ext>
            </a:extLst>
          </p:cNvPr>
          <p:cNvCxnSpPr>
            <a:cxnSpLocks/>
          </p:cNvCxnSpPr>
          <p:nvPr/>
        </p:nvCxnSpPr>
        <p:spPr>
          <a:xfrm flipV="1">
            <a:off x="5084064" y="3921760"/>
            <a:ext cx="946910" cy="861568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88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mponents&#10;&#10;Description automatically generated">
            <a:extLst>
              <a:ext uri="{FF2B5EF4-FFF2-40B4-BE49-F238E27FC236}">
                <a16:creationId xmlns:a16="http://schemas.microsoft.com/office/drawing/2014/main" id="{364774DB-7E8F-D08E-2D66-B1BB71CBE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42" y="0"/>
            <a:ext cx="11503465" cy="678226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AFF851-B135-6AD4-1F04-218E448BC520}"/>
              </a:ext>
            </a:extLst>
          </p:cNvPr>
          <p:cNvCxnSpPr>
            <a:cxnSpLocks/>
          </p:cNvCxnSpPr>
          <p:nvPr/>
        </p:nvCxnSpPr>
        <p:spPr>
          <a:xfrm>
            <a:off x="6819392" y="3114755"/>
            <a:ext cx="589279" cy="1095549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C6838C-39CF-B874-D837-8262F839A9A9}"/>
              </a:ext>
            </a:extLst>
          </p:cNvPr>
          <p:cNvCxnSpPr>
            <a:cxnSpLocks/>
          </p:cNvCxnSpPr>
          <p:nvPr/>
        </p:nvCxnSpPr>
        <p:spPr>
          <a:xfrm flipH="1">
            <a:off x="7477760" y="3872992"/>
            <a:ext cx="1121664" cy="418592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" name="Picture 7" descr="A graph of a graph&#10;&#10;Description automatically generated">
            <a:extLst>
              <a:ext uri="{FF2B5EF4-FFF2-40B4-BE49-F238E27FC236}">
                <a16:creationId xmlns:a16="http://schemas.microsoft.com/office/drawing/2014/main" id="{4B2AABF0-908A-A399-2218-35EFDA13D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634" y="294870"/>
            <a:ext cx="3703076" cy="2551816"/>
          </a:xfrm>
          <a:prstGeom prst="rect">
            <a:avLst/>
          </a:prstGeom>
        </p:spPr>
      </p:pic>
      <p:pic>
        <p:nvPicPr>
          <p:cNvPr id="10" name="Picture 9" descr="A graph of a graph showing a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E26B8258-AFF4-B396-6269-55EA6FACA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477" y="2467607"/>
            <a:ext cx="2789939" cy="213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83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mponents&#10;&#10;Description automatically generated">
            <a:extLst>
              <a:ext uri="{FF2B5EF4-FFF2-40B4-BE49-F238E27FC236}">
                <a16:creationId xmlns:a16="http://schemas.microsoft.com/office/drawing/2014/main" id="{364774DB-7E8F-D08E-2D66-B1BB71CBE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42" y="0"/>
            <a:ext cx="11503465" cy="6782260"/>
          </a:xfrm>
          <a:prstGeom prst="rect">
            <a:avLst/>
          </a:prstGeom>
        </p:spPr>
      </p:pic>
      <p:pic>
        <p:nvPicPr>
          <p:cNvPr id="3" name="Picture 2" descr="A graph of a graph&#10;&#10;Description automatically generated">
            <a:extLst>
              <a:ext uri="{FF2B5EF4-FFF2-40B4-BE49-F238E27FC236}">
                <a16:creationId xmlns:a16="http://schemas.microsoft.com/office/drawing/2014/main" id="{85A56047-B5D9-951D-0036-513A26BB4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375" y="75740"/>
            <a:ext cx="4144122" cy="2903249"/>
          </a:xfrm>
          <a:prstGeom prst="rect">
            <a:avLst/>
          </a:prstGeom>
        </p:spPr>
      </p:pic>
      <p:pic>
        <p:nvPicPr>
          <p:cNvPr id="6" name="Picture 5" descr="A graph of 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AD392BFE-74F5-5EF7-CDEE-4BF70953C3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61" y="4202169"/>
            <a:ext cx="3263061" cy="253793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57DC9-A7B2-AF40-781F-419FCB5599DC}"/>
              </a:ext>
            </a:extLst>
          </p:cNvPr>
          <p:cNvCxnSpPr>
            <a:cxnSpLocks/>
          </p:cNvCxnSpPr>
          <p:nvPr/>
        </p:nvCxnSpPr>
        <p:spPr>
          <a:xfrm>
            <a:off x="7736497" y="2904226"/>
            <a:ext cx="947428" cy="1685027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735E70-06B8-6E63-5628-C85E37D9DDDF}"/>
              </a:ext>
            </a:extLst>
          </p:cNvPr>
          <p:cNvCxnSpPr>
            <a:cxnSpLocks/>
          </p:cNvCxnSpPr>
          <p:nvPr/>
        </p:nvCxnSpPr>
        <p:spPr>
          <a:xfrm flipV="1">
            <a:off x="4600755" y="5106838"/>
            <a:ext cx="4083170" cy="379562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21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mponents&#10;&#10;Description automatically generated">
            <a:extLst>
              <a:ext uri="{FF2B5EF4-FFF2-40B4-BE49-F238E27FC236}">
                <a16:creationId xmlns:a16="http://schemas.microsoft.com/office/drawing/2014/main" id="{99B2C3FA-1121-0BF2-AFAE-8EB02E701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193" y="150809"/>
            <a:ext cx="7440304" cy="4386685"/>
          </a:xfrm>
          <a:prstGeom prst="rect">
            <a:avLst/>
          </a:prstGeom>
        </p:spPr>
      </p:pic>
      <p:pic>
        <p:nvPicPr>
          <p:cNvPr id="27" name="Picture 26" descr="A graph of a graph&#10;&#10;Description automatically generated">
            <a:extLst>
              <a:ext uri="{FF2B5EF4-FFF2-40B4-BE49-F238E27FC236}">
                <a16:creationId xmlns:a16="http://schemas.microsoft.com/office/drawing/2014/main" id="{780F4999-3763-8EEC-2D30-6DB0B6793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8" y="4928574"/>
            <a:ext cx="2175954" cy="1499466"/>
          </a:xfrm>
          <a:prstGeom prst="rect">
            <a:avLst/>
          </a:prstGeom>
        </p:spPr>
      </p:pic>
      <p:pic>
        <p:nvPicPr>
          <p:cNvPr id="29" name="Picture 28" descr="A graph of a graph&#10;&#10;Description automatically generated">
            <a:extLst>
              <a:ext uri="{FF2B5EF4-FFF2-40B4-BE49-F238E27FC236}">
                <a16:creationId xmlns:a16="http://schemas.microsoft.com/office/drawing/2014/main" id="{1C286B83-6508-9AAB-5409-272B5164D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410" y="4882567"/>
            <a:ext cx="2321199" cy="1599555"/>
          </a:xfrm>
          <a:prstGeom prst="rect">
            <a:avLst/>
          </a:prstGeom>
        </p:spPr>
      </p:pic>
      <p:pic>
        <p:nvPicPr>
          <p:cNvPr id="31" name="Picture 30" descr="A graph of a graph&#10;&#10;Description automatically generated">
            <a:extLst>
              <a:ext uri="{FF2B5EF4-FFF2-40B4-BE49-F238E27FC236}">
                <a16:creationId xmlns:a16="http://schemas.microsoft.com/office/drawing/2014/main" id="{CBE38C26-0161-8D43-7A81-0300DDC4EC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228" y="4882566"/>
            <a:ext cx="2242718" cy="1545473"/>
          </a:xfrm>
          <a:prstGeom prst="rect">
            <a:avLst/>
          </a:prstGeom>
        </p:spPr>
      </p:pic>
      <p:pic>
        <p:nvPicPr>
          <p:cNvPr id="41" name="Picture 40" descr="A graph of a graph&#10;&#10;Description automatically generated">
            <a:extLst>
              <a:ext uri="{FF2B5EF4-FFF2-40B4-BE49-F238E27FC236}">
                <a16:creationId xmlns:a16="http://schemas.microsoft.com/office/drawing/2014/main" id="{9A3703F7-BF71-D9BF-0F91-5218AA36D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371" y="4882566"/>
            <a:ext cx="2242718" cy="1545473"/>
          </a:xfrm>
          <a:prstGeom prst="rect">
            <a:avLst/>
          </a:prstGeom>
        </p:spPr>
      </p:pic>
      <p:pic>
        <p:nvPicPr>
          <p:cNvPr id="43" name="Picture 42" descr="A graph of a graph&#10;&#10;Description automatically generated">
            <a:extLst>
              <a:ext uri="{FF2B5EF4-FFF2-40B4-BE49-F238E27FC236}">
                <a16:creationId xmlns:a16="http://schemas.microsoft.com/office/drawing/2014/main" id="{BFD31A49-AA52-27E6-C72F-1F383E4ABB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514" y="4828484"/>
            <a:ext cx="2283218" cy="159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3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1AAF9D65-9E06-9C3A-F7AC-C0BEA3596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1" y="0"/>
            <a:ext cx="11570139" cy="68580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2F11BA-05AD-F11F-2986-FD87CEC53B11}"/>
              </a:ext>
            </a:extLst>
          </p:cNvPr>
          <p:cNvCxnSpPr>
            <a:cxnSpLocks/>
          </p:cNvCxnSpPr>
          <p:nvPr/>
        </p:nvCxnSpPr>
        <p:spPr>
          <a:xfrm flipH="1" flipV="1">
            <a:off x="2592832" y="1316736"/>
            <a:ext cx="170688" cy="377952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D81B70-23E0-A546-70C8-F825067A371B}"/>
              </a:ext>
            </a:extLst>
          </p:cNvPr>
          <p:cNvCxnSpPr>
            <a:cxnSpLocks/>
          </p:cNvCxnSpPr>
          <p:nvPr/>
        </p:nvCxnSpPr>
        <p:spPr>
          <a:xfrm flipH="1">
            <a:off x="2542086" y="3312160"/>
            <a:ext cx="282394" cy="892113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7B1539-98B3-CA87-31B8-374A607AF885}"/>
              </a:ext>
            </a:extLst>
          </p:cNvPr>
          <p:cNvCxnSpPr>
            <a:cxnSpLocks/>
          </p:cNvCxnSpPr>
          <p:nvPr/>
        </p:nvCxnSpPr>
        <p:spPr>
          <a:xfrm flipH="1">
            <a:off x="3644307" y="3312160"/>
            <a:ext cx="1345005" cy="719504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7B0A96-6942-3391-DACD-B0A830A97B80}"/>
              </a:ext>
            </a:extLst>
          </p:cNvPr>
          <p:cNvCxnSpPr>
            <a:cxnSpLocks/>
          </p:cNvCxnSpPr>
          <p:nvPr/>
        </p:nvCxnSpPr>
        <p:spPr>
          <a:xfrm flipH="1" flipV="1">
            <a:off x="3665728" y="1284224"/>
            <a:ext cx="1484957" cy="608238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BB79AF-D930-5085-9112-9C21327FFE55}"/>
              </a:ext>
            </a:extLst>
          </p:cNvPr>
          <p:cNvCxnSpPr>
            <a:cxnSpLocks/>
          </p:cNvCxnSpPr>
          <p:nvPr/>
        </p:nvCxnSpPr>
        <p:spPr>
          <a:xfrm flipV="1">
            <a:off x="4408206" y="4669647"/>
            <a:ext cx="966651" cy="320945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E93809B-650A-DD18-135A-0E121ECC3BE4}"/>
              </a:ext>
            </a:extLst>
          </p:cNvPr>
          <p:cNvCxnSpPr>
            <a:cxnSpLocks/>
          </p:cNvCxnSpPr>
          <p:nvPr/>
        </p:nvCxnSpPr>
        <p:spPr>
          <a:xfrm flipV="1">
            <a:off x="5985446" y="4799584"/>
            <a:ext cx="362522" cy="521877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886C1F4-36A0-5D2D-5055-31BC52853110}"/>
              </a:ext>
            </a:extLst>
          </p:cNvPr>
          <p:cNvCxnSpPr>
            <a:cxnSpLocks/>
          </p:cNvCxnSpPr>
          <p:nvPr/>
        </p:nvCxnSpPr>
        <p:spPr>
          <a:xfrm flipH="1" flipV="1">
            <a:off x="7412736" y="1389888"/>
            <a:ext cx="511846" cy="1135800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E3EEFF-984E-E2AC-2060-00F3B5309E7F}"/>
              </a:ext>
            </a:extLst>
          </p:cNvPr>
          <p:cNvCxnSpPr>
            <a:cxnSpLocks/>
          </p:cNvCxnSpPr>
          <p:nvPr/>
        </p:nvCxnSpPr>
        <p:spPr>
          <a:xfrm flipH="1">
            <a:off x="7412736" y="3915576"/>
            <a:ext cx="674624" cy="1075016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5" name="Picture 44" descr="A graph of a graph&#10;&#10;Description automatically generated">
            <a:extLst>
              <a:ext uri="{FF2B5EF4-FFF2-40B4-BE49-F238E27FC236}">
                <a16:creationId xmlns:a16="http://schemas.microsoft.com/office/drawing/2014/main" id="{A3D0C473-564C-70F6-260C-06B7F5E8A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088" y="1778413"/>
            <a:ext cx="2029108" cy="1398273"/>
          </a:xfrm>
          <a:prstGeom prst="rect">
            <a:avLst/>
          </a:prstGeom>
        </p:spPr>
      </p:pic>
      <p:pic>
        <p:nvPicPr>
          <p:cNvPr id="47" name="Picture 46" descr="A graph of a graph&#10;&#10;Description automatically generated">
            <a:extLst>
              <a:ext uri="{FF2B5EF4-FFF2-40B4-BE49-F238E27FC236}">
                <a16:creationId xmlns:a16="http://schemas.microsoft.com/office/drawing/2014/main" id="{893F8774-52D5-DD1E-2F00-6D4A0CE31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477" y="1916472"/>
            <a:ext cx="1947816" cy="1364582"/>
          </a:xfrm>
          <a:prstGeom prst="rect">
            <a:avLst/>
          </a:prstGeom>
        </p:spPr>
      </p:pic>
      <p:pic>
        <p:nvPicPr>
          <p:cNvPr id="49" name="Picture 48" descr="A graph of a graph&#10;&#10;Description automatically generated">
            <a:extLst>
              <a:ext uri="{FF2B5EF4-FFF2-40B4-BE49-F238E27FC236}">
                <a16:creationId xmlns:a16="http://schemas.microsoft.com/office/drawing/2014/main" id="{E148D9E9-DB86-26CC-5F70-666114A4EB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629" y="4749810"/>
            <a:ext cx="2379746" cy="1667180"/>
          </a:xfrm>
          <a:prstGeom prst="rect">
            <a:avLst/>
          </a:prstGeom>
        </p:spPr>
      </p:pic>
      <p:pic>
        <p:nvPicPr>
          <p:cNvPr id="51" name="Picture 50" descr="A graph of a graph&#10;&#10;Description automatically generated">
            <a:extLst>
              <a:ext uri="{FF2B5EF4-FFF2-40B4-BE49-F238E27FC236}">
                <a16:creationId xmlns:a16="http://schemas.microsoft.com/office/drawing/2014/main" id="{326D131C-BE9B-0C00-5B6D-1B3215BC7F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206" y="5375848"/>
            <a:ext cx="2089931" cy="1464143"/>
          </a:xfrm>
          <a:prstGeom prst="rect">
            <a:avLst/>
          </a:prstGeom>
        </p:spPr>
      </p:pic>
      <p:pic>
        <p:nvPicPr>
          <p:cNvPr id="53" name="Picture 52" descr="A graph showing a graph&#10;&#10;Description automatically generated">
            <a:extLst>
              <a:ext uri="{FF2B5EF4-FFF2-40B4-BE49-F238E27FC236}">
                <a16:creationId xmlns:a16="http://schemas.microsoft.com/office/drawing/2014/main" id="{D2332D13-299F-DCF5-48AC-421A0781D7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660" y="2525688"/>
            <a:ext cx="1875536" cy="131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6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4FE7999E-994D-B30E-B442-529A927E2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1" y="0"/>
            <a:ext cx="11570139" cy="6858000"/>
          </a:xfrm>
          <a:prstGeom prst="rect">
            <a:avLst/>
          </a:prstGeom>
        </p:spPr>
      </p:pic>
      <p:pic>
        <p:nvPicPr>
          <p:cNvPr id="8" name="Picture 7" descr="A graph of a graph showing the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B4F4FCC2-431F-B062-D858-08AA2B8C9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702" y="2129529"/>
            <a:ext cx="2737502" cy="2112271"/>
          </a:xfrm>
          <a:prstGeom prst="rect">
            <a:avLst/>
          </a:prstGeom>
        </p:spPr>
      </p:pic>
      <p:pic>
        <p:nvPicPr>
          <p:cNvPr id="9" name="Picture 8" descr="A graph of a graph&#10;&#10;Description automatically generated">
            <a:extLst>
              <a:ext uri="{FF2B5EF4-FFF2-40B4-BE49-F238E27FC236}">
                <a16:creationId xmlns:a16="http://schemas.microsoft.com/office/drawing/2014/main" id="{0EF56DAF-62FC-20E9-CA4D-C3756056D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220" y="1575464"/>
            <a:ext cx="3230731" cy="222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1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4FE7999E-994D-B30E-B442-529A927E2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1" y="0"/>
            <a:ext cx="11570139" cy="6858000"/>
          </a:xfrm>
          <a:prstGeom prst="rect">
            <a:avLst/>
          </a:prstGeom>
        </p:spPr>
      </p:pic>
      <p:pic>
        <p:nvPicPr>
          <p:cNvPr id="3" name="Picture 2" descr="A graph of 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D0B1DF72-42F3-3F64-E09A-4E46D09CD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576" y="2171697"/>
            <a:ext cx="2921514" cy="2286005"/>
          </a:xfrm>
          <a:prstGeom prst="rect">
            <a:avLst/>
          </a:prstGeom>
        </p:spPr>
      </p:pic>
      <p:pic>
        <p:nvPicPr>
          <p:cNvPr id="10" name="Picture 9" descr="A graph of a graph&#10;&#10;Description automatically generated">
            <a:extLst>
              <a:ext uri="{FF2B5EF4-FFF2-40B4-BE49-F238E27FC236}">
                <a16:creationId xmlns:a16="http://schemas.microsoft.com/office/drawing/2014/main" id="{E236FE7F-1BEA-2275-1A16-92CD73EB9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514" y="1507229"/>
            <a:ext cx="3234954" cy="226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92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4FE7999E-994D-B30E-B442-529A927E2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1" y="0"/>
            <a:ext cx="11570139" cy="6858000"/>
          </a:xfrm>
          <a:prstGeom prst="rect">
            <a:avLst/>
          </a:prstGeom>
        </p:spPr>
      </p:pic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33ACB747-50DC-D868-0EB4-4BA743718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680" y="1460662"/>
            <a:ext cx="3413891" cy="2391671"/>
          </a:xfrm>
          <a:prstGeom prst="rect">
            <a:avLst/>
          </a:prstGeom>
        </p:spPr>
      </p:pic>
      <p:pic>
        <p:nvPicPr>
          <p:cNvPr id="10" name="Picture 9" descr="A graph of a graph showing a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FBAB5B1E-C886-6BCB-27EF-BB9DD4A63E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836" y="2285997"/>
            <a:ext cx="2921514" cy="22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68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4FE7999E-994D-B30E-B442-529A927E2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1" y="0"/>
            <a:ext cx="11570139" cy="6858000"/>
          </a:xfrm>
          <a:prstGeom prst="rect">
            <a:avLst/>
          </a:prstGeom>
        </p:spPr>
      </p:pic>
      <p:pic>
        <p:nvPicPr>
          <p:cNvPr id="3" name="Picture 2" descr="A graph of a graph&#10;&#10;Description automatically generated">
            <a:extLst>
              <a:ext uri="{FF2B5EF4-FFF2-40B4-BE49-F238E27FC236}">
                <a16:creationId xmlns:a16="http://schemas.microsoft.com/office/drawing/2014/main" id="{AFCFDA63-371F-8B82-42A0-7A762E091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48" y="1456428"/>
            <a:ext cx="3522820" cy="2467983"/>
          </a:xfrm>
          <a:prstGeom prst="rect">
            <a:avLst/>
          </a:prstGeom>
        </p:spPr>
      </p:pic>
      <p:pic>
        <p:nvPicPr>
          <p:cNvPr id="6" name="Picture 5" descr="A graph of 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C3093C6F-1413-7D8D-3A8D-D89B95759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592" y="2273296"/>
            <a:ext cx="2748385" cy="215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2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4FE7999E-994D-B30E-B442-529A927E2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1" y="0"/>
            <a:ext cx="11570139" cy="6858000"/>
          </a:xfrm>
          <a:prstGeom prst="rect">
            <a:avLst/>
          </a:prstGeom>
        </p:spPr>
      </p:pic>
      <p:pic>
        <p:nvPicPr>
          <p:cNvPr id="5" name="Picture 4" descr="A graph showing a graph&#10;&#10;Description automatically generated">
            <a:extLst>
              <a:ext uri="{FF2B5EF4-FFF2-40B4-BE49-F238E27FC236}">
                <a16:creationId xmlns:a16="http://schemas.microsoft.com/office/drawing/2014/main" id="{5D581748-8A0B-867C-3FFB-4C553E69E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381" y="1507231"/>
            <a:ext cx="3366185" cy="2358249"/>
          </a:xfrm>
          <a:prstGeom prst="rect">
            <a:avLst/>
          </a:prstGeom>
        </p:spPr>
      </p:pic>
      <p:pic>
        <p:nvPicPr>
          <p:cNvPr id="8" name="Picture 7" descr="A graph of a graph showing a number of electrons&#10;&#10;Description automatically generated with medium confidence">
            <a:extLst>
              <a:ext uri="{FF2B5EF4-FFF2-40B4-BE49-F238E27FC236}">
                <a16:creationId xmlns:a16="http://schemas.microsoft.com/office/drawing/2014/main" id="{4065DDC6-C7F2-2B96-9209-F9900B890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3" y="2171696"/>
            <a:ext cx="2810934" cy="219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02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1AAF9D65-9E06-9C3A-F7AC-C0BEA3596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985" y="0"/>
            <a:ext cx="7496254" cy="4443275"/>
          </a:xfrm>
          <a:prstGeom prst="rect">
            <a:avLst/>
          </a:prstGeom>
        </p:spPr>
      </p:pic>
      <p:pic>
        <p:nvPicPr>
          <p:cNvPr id="45" name="Picture 44" descr="A graph of a graph&#10;&#10;Description automatically generated">
            <a:extLst>
              <a:ext uri="{FF2B5EF4-FFF2-40B4-BE49-F238E27FC236}">
                <a16:creationId xmlns:a16="http://schemas.microsoft.com/office/drawing/2014/main" id="{A3D0C473-564C-70F6-260C-06B7F5E8A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3" y="4742323"/>
            <a:ext cx="2237145" cy="1541633"/>
          </a:xfrm>
          <a:prstGeom prst="rect">
            <a:avLst/>
          </a:prstGeom>
        </p:spPr>
      </p:pic>
      <p:pic>
        <p:nvPicPr>
          <p:cNvPr id="47" name="Picture 46" descr="A graph of a graph&#10;&#10;Description automatically generated">
            <a:extLst>
              <a:ext uri="{FF2B5EF4-FFF2-40B4-BE49-F238E27FC236}">
                <a16:creationId xmlns:a16="http://schemas.microsoft.com/office/drawing/2014/main" id="{893F8774-52D5-DD1E-2F00-6D4A0CE31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497" y="4742323"/>
            <a:ext cx="2231324" cy="1563199"/>
          </a:xfrm>
          <a:prstGeom prst="rect">
            <a:avLst/>
          </a:prstGeom>
        </p:spPr>
      </p:pic>
      <p:pic>
        <p:nvPicPr>
          <p:cNvPr id="49" name="Picture 48" descr="A graph of a graph&#10;&#10;Description automatically generated">
            <a:extLst>
              <a:ext uri="{FF2B5EF4-FFF2-40B4-BE49-F238E27FC236}">
                <a16:creationId xmlns:a16="http://schemas.microsoft.com/office/drawing/2014/main" id="{E148D9E9-DB86-26CC-5F70-666114A4EB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029" y="4742323"/>
            <a:ext cx="2231323" cy="1563199"/>
          </a:xfrm>
          <a:prstGeom prst="rect">
            <a:avLst/>
          </a:prstGeom>
        </p:spPr>
      </p:pic>
      <p:pic>
        <p:nvPicPr>
          <p:cNvPr id="51" name="Picture 50" descr="A graph of a graph&#10;&#10;Description automatically generated">
            <a:extLst>
              <a:ext uri="{FF2B5EF4-FFF2-40B4-BE49-F238E27FC236}">
                <a16:creationId xmlns:a16="http://schemas.microsoft.com/office/drawing/2014/main" id="{326D131C-BE9B-0C00-5B6D-1B3215BC7F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769" y="4742323"/>
            <a:ext cx="2213712" cy="1550860"/>
          </a:xfrm>
          <a:prstGeom prst="rect">
            <a:avLst/>
          </a:prstGeom>
        </p:spPr>
      </p:pic>
      <p:pic>
        <p:nvPicPr>
          <p:cNvPr id="53" name="Picture 52" descr="A graph showing a graph&#10;&#10;Description automatically generated">
            <a:extLst>
              <a:ext uri="{FF2B5EF4-FFF2-40B4-BE49-F238E27FC236}">
                <a16:creationId xmlns:a16="http://schemas.microsoft.com/office/drawing/2014/main" id="{D2332D13-299F-DCF5-48AC-421A0781D7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315" y="4742323"/>
            <a:ext cx="2231323" cy="156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92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DC7D88E-7F30-0418-3EBA-9A9D1F78A605}"/>
              </a:ext>
            </a:extLst>
          </p:cNvPr>
          <p:cNvSpPr txBox="1"/>
          <p:nvPr/>
        </p:nvSpPr>
        <p:spPr>
          <a:xfrm>
            <a:off x="3090333" y="270933"/>
            <a:ext cx="6252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LDM radii = r_0 * A^(0.33)</a:t>
            </a:r>
          </a:p>
        </p:txBody>
      </p:sp>
      <p:pic>
        <p:nvPicPr>
          <p:cNvPr id="10" name="Picture 9" descr="A close-up of a graph&#10;&#10;Description automatically generated">
            <a:extLst>
              <a:ext uri="{FF2B5EF4-FFF2-40B4-BE49-F238E27FC236}">
                <a16:creationId xmlns:a16="http://schemas.microsoft.com/office/drawing/2014/main" id="{1ABB2280-BAE5-790A-7439-BBC4C1A7C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3648"/>
            <a:ext cx="12192000" cy="51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42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96C7EA5-93AB-1AFE-C241-819427EE2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1083"/>
            <a:ext cx="12192000" cy="5121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B1EC5-4DA6-6EF9-4C33-105EBFA06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534" y="0"/>
            <a:ext cx="7454900" cy="13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7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2F30C5-CA2E-E232-F59D-9CEE6B36F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64" y="180891"/>
            <a:ext cx="7758328" cy="3629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1F189-DBA0-1885-BD8E-1C1A02066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67" y="3891071"/>
            <a:ext cx="10905066" cy="23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59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DDE080-BA37-E8CA-0919-0D56C8108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0539"/>
            <a:ext cx="12192000" cy="230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65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49B1055E-4F89-5D88-E730-248B4F5DE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267" y="44704"/>
            <a:ext cx="4020769" cy="3190240"/>
          </a:xfrm>
          <a:prstGeom prst="rect">
            <a:avLst/>
          </a:prstGeom>
        </p:spPr>
      </p:pic>
      <p:pic>
        <p:nvPicPr>
          <p:cNvPr id="23" name="Picture 22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BC7AE795-1CE7-2B6B-410A-4E41469E7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036" y="44704"/>
            <a:ext cx="3933695" cy="3121152"/>
          </a:xfrm>
          <a:prstGeom prst="rect">
            <a:avLst/>
          </a:prstGeom>
        </p:spPr>
      </p:pic>
      <p:pic>
        <p:nvPicPr>
          <p:cNvPr id="25" name="Picture 24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025B390B-B645-A9D5-0A15-850F24300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" y="3429000"/>
            <a:ext cx="3969549" cy="3149600"/>
          </a:xfrm>
          <a:prstGeom prst="rect">
            <a:avLst/>
          </a:prstGeom>
        </p:spPr>
      </p:pic>
      <p:pic>
        <p:nvPicPr>
          <p:cNvPr id="27" name="Picture 26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70AE51DE-92B0-3D0D-16F7-59B88C0C31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" y="85344"/>
            <a:ext cx="3969549" cy="3149600"/>
          </a:xfrm>
          <a:prstGeom prst="rect">
            <a:avLst/>
          </a:prstGeom>
        </p:spPr>
      </p:pic>
      <p:pic>
        <p:nvPicPr>
          <p:cNvPr id="29" name="Picture 28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7812FA87-0EAE-7211-9167-EC293EBD0D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15" y="3458464"/>
            <a:ext cx="4020769" cy="3190240"/>
          </a:xfrm>
          <a:prstGeom prst="rect">
            <a:avLst/>
          </a:prstGeom>
        </p:spPr>
      </p:pic>
      <p:pic>
        <p:nvPicPr>
          <p:cNvPr id="31" name="Picture 30" descr="A graph of a stable&#10;&#10;Description automatically generated">
            <a:extLst>
              <a:ext uri="{FF2B5EF4-FFF2-40B4-BE49-F238E27FC236}">
                <a16:creationId xmlns:a16="http://schemas.microsoft.com/office/drawing/2014/main" id="{523BC118-AB68-FE5A-7F37-1964DCCA4E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514" y="3493008"/>
            <a:ext cx="3933695" cy="312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01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F030F844-3E40-9C4D-33CC-796DAC54B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0" y="48768"/>
            <a:ext cx="3836377" cy="3043936"/>
          </a:xfrm>
          <a:prstGeom prst="rect">
            <a:avLst/>
          </a:prstGeom>
        </p:spPr>
      </p:pic>
      <p:pic>
        <p:nvPicPr>
          <p:cNvPr id="7" name="Picture 6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AC286F6F-1B6B-01BA-B1BF-FB5472752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114" y="48768"/>
            <a:ext cx="3897841" cy="3092704"/>
          </a:xfrm>
          <a:prstGeom prst="rect">
            <a:avLst/>
          </a:prstGeom>
        </p:spPr>
      </p:pic>
      <p:pic>
        <p:nvPicPr>
          <p:cNvPr id="9" name="Picture 8" descr="A graph of a graph with numbers and lines&#10;&#10;Description automatically generated">
            <a:extLst>
              <a:ext uri="{FF2B5EF4-FFF2-40B4-BE49-F238E27FC236}">
                <a16:creationId xmlns:a16="http://schemas.microsoft.com/office/drawing/2014/main" id="{8C69DC08-10DB-AED6-E414-43AD770174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182" y="0"/>
            <a:ext cx="3897841" cy="3092704"/>
          </a:xfrm>
          <a:prstGeom prst="rect">
            <a:avLst/>
          </a:prstGeom>
        </p:spPr>
      </p:pic>
      <p:pic>
        <p:nvPicPr>
          <p:cNvPr id="11" name="Picture 10" descr="A graph of a graph with numbers and a line&#10;&#10;Description automatically generated">
            <a:extLst>
              <a:ext uri="{FF2B5EF4-FFF2-40B4-BE49-F238E27FC236}">
                <a16:creationId xmlns:a16="http://schemas.microsoft.com/office/drawing/2014/main" id="{B7D598B0-37EB-97EB-B842-F4600878C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0" y="3300650"/>
            <a:ext cx="3897841" cy="3092704"/>
          </a:xfrm>
          <a:prstGeom prst="rect">
            <a:avLst/>
          </a:prstGeom>
        </p:spPr>
      </p:pic>
      <p:pic>
        <p:nvPicPr>
          <p:cNvPr id="13" name="Picture 12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7B863D67-BCA7-9F08-AF9E-B27524AC87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260" y="3300650"/>
            <a:ext cx="3969548" cy="3149600"/>
          </a:xfrm>
          <a:prstGeom prst="rect">
            <a:avLst/>
          </a:prstGeom>
        </p:spPr>
      </p:pic>
      <p:pic>
        <p:nvPicPr>
          <p:cNvPr id="15" name="Picture 14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121FA957-9471-ECCE-040B-16CD2B45FB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856" y="3300650"/>
            <a:ext cx="3969549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96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showing a stable&#10;&#10;Description automatically generated">
            <a:extLst>
              <a:ext uri="{FF2B5EF4-FFF2-40B4-BE49-F238E27FC236}">
                <a16:creationId xmlns:a16="http://schemas.microsoft.com/office/drawing/2014/main" id="{F3908FEB-16FF-E020-9139-22251FE21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8" y="25617"/>
            <a:ext cx="3882214" cy="3058959"/>
          </a:xfrm>
          <a:prstGeom prst="rect">
            <a:avLst/>
          </a:prstGeom>
        </p:spPr>
      </p:pic>
      <p:pic>
        <p:nvPicPr>
          <p:cNvPr id="7" name="Picture 6" descr="A graph of a graph showing a stable&#10;&#10;Description automatically generated">
            <a:extLst>
              <a:ext uri="{FF2B5EF4-FFF2-40B4-BE49-F238E27FC236}">
                <a16:creationId xmlns:a16="http://schemas.microsoft.com/office/drawing/2014/main" id="{C520B528-BD77-EA10-7A56-2248DBD3C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892" y="-34506"/>
            <a:ext cx="3882215" cy="3058959"/>
          </a:xfrm>
          <a:prstGeom prst="rect">
            <a:avLst/>
          </a:prstGeom>
        </p:spPr>
      </p:pic>
      <p:pic>
        <p:nvPicPr>
          <p:cNvPr id="9" name="Picture 8" descr="A graph of a graph showing a stable&#10;&#10;Description automatically generated">
            <a:extLst>
              <a:ext uri="{FF2B5EF4-FFF2-40B4-BE49-F238E27FC236}">
                <a16:creationId xmlns:a16="http://schemas.microsoft.com/office/drawing/2014/main" id="{7AEDFE3C-1F04-DD04-116D-4762372BA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47" y="0"/>
            <a:ext cx="3882215" cy="3058960"/>
          </a:xfrm>
          <a:prstGeom prst="rect">
            <a:avLst/>
          </a:prstGeom>
        </p:spPr>
      </p:pic>
      <p:pic>
        <p:nvPicPr>
          <p:cNvPr id="11" name="Picture 10" descr="A graph of a graph showing a stable&#10;&#10;Description automatically generated">
            <a:extLst>
              <a:ext uri="{FF2B5EF4-FFF2-40B4-BE49-F238E27FC236}">
                <a16:creationId xmlns:a16="http://schemas.microsoft.com/office/drawing/2014/main" id="{434E530C-0027-CE79-4DCE-8C582EED7B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2" y="3308096"/>
            <a:ext cx="3965765" cy="3124792"/>
          </a:xfrm>
          <a:prstGeom prst="rect">
            <a:avLst/>
          </a:prstGeom>
        </p:spPr>
      </p:pic>
      <p:pic>
        <p:nvPicPr>
          <p:cNvPr id="13" name="Picture 12" descr="A graph of a graph showing a stable&#10;&#10;Description automatically generated">
            <a:extLst>
              <a:ext uri="{FF2B5EF4-FFF2-40B4-BE49-F238E27FC236}">
                <a16:creationId xmlns:a16="http://schemas.microsoft.com/office/drawing/2014/main" id="{7FB50A1E-943D-3560-2B51-59430382BC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069" y="3371953"/>
            <a:ext cx="3777038" cy="3060935"/>
          </a:xfrm>
          <a:prstGeom prst="rect">
            <a:avLst/>
          </a:prstGeom>
        </p:spPr>
      </p:pic>
      <p:pic>
        <p:nvPicPr>
          <p:cNvPr id="15" name="Picture 14" descr="A graph of a stable&#10;&#10;Description automatically generated">
            <a:extLst>
              <a:ext uri="{FF2B5EF4-FFF2-40B4-BE49-F238E27FC236}">
                <a16:creationId xmlns:a16="http://schemas.microsoft.com/office/drawing/2014/main" id="{69CF4FF8-EA01-BCC8-0858-FC1C0BBD28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524" y="3371953"/>
            <a:ext cx="3777038" cy="306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6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with numbers and a diagram&#10;&#10;Description automatically generated with medium confidence">
            <a:extLst>
              <a:ext uri="{FF2B5EF4-FFF2-40B4-BE49-F238E27FC236}">
                <a16:creationId xmlns:a16="http://schemas.microsoft.com/office/drawing/2014/main" id="{9B2EFCED-1848-5A39-7030-6408B60F7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82" y="52832"/>
            <a:ext cx="3766092" cy="3052064"/>
          </a:xfrm>
          <a:prstGeom prst="rect">
            <a:avLst/>
          </a:prstGeom>
        </p:spPr>
      </p:pic>
      <p:pic>
        <p:nvPicPr>
          <p:cNvPr id="7" name="Picture 6" descr="A graph of a graph showing a stable&#10;&#10;Description automatically generated">
            <a:extLst>
              <a:ext uri="{FF2B5EF4-FFF2-40B4-BE49-F238E27FC236}">
                <a16:creationId xmlns:a16="http://schemas.microsoft.com/office/drawing/2014/main" id="{D658DE90-6375-3575-7A09-72C4A28A4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358" y="26416"/>
            <a:ext cx="3831283" cy="3104896"/>
          </a:xfrm>
          <a:prstGeom prst="rect">
            <a:avLst/>
          </a:prstGeom>
        </p:spPr>
      </p:pic>
      <p:pic>
        <p:nvPicPr>
          <p:cNvPr id="9" name="Picture 8" descr="A graph of a stable&#10;&#10;Description automatically generated">
            <a:extLst>
              <a:ext uri="{FF2B5EF4-FFF2-40B4-BE49-F238E27FC236}">
                <a16:creationId xmlns:a16="http://schemas.microsoft.com/office/drawing/2014/main" id="{E46F850C-D4B0-3097-B566-A2A300C9F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493" y="52832"/>
            <a:ext cx="3766091" cy="3052064"/>
          </a:xfrm>
          <a:prstGeom prst="rect">
            <a:avLst/>
          </a:prstGeom>
        </p:spPr>
      </p:pic>
      <p:pic>
        <p:nvPicPr>
          <p:cNvPr id="11" name="Picture 10" descr="A graph of a graph with numbers and a diagram&#10;&#10;Description automatically generated with medium confidence">
            <a:extLst>
              <a:ext uri="{FF2B5EF4-FFF2-40B4-BE49-F238E27FC236}">
                <a16:creationId xmlns:a16="http://schemas.microsoft.com/office/drawing/2014/main" id="{BBD1ECB0-1C4B-964E-B7BF-2E1E1552A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0" y="3502903"/>
            <a:ext cx="3788984" cy="2985499"/>
          </a:xfrm>
          <a:prstGeom prst="rect">
            <a:avLst/>
          </a:prstGeom>
        </p:spPr>
      </p:pic>
      <p:pic>
        <p:nvPicPr>
          <p:cNvPr id="13" name="Picture 12" descr="A graph of a graph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A9DAC813-14FE-B725-3C76-913B779F15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770" y="3429000"/>
            <a:ext cx="3831285" cy="3104897"/>
          </a:xfrm>
          <a:prstGeom prst="rect">
            <a:avLst/>
          </a:prstGeom>
        </p:spPr>
      </p:pic>
      <p:pic>
        <p:nvPicPr>
          <p:cNvPr id="15" name="Picture 14" descr="A graph of a graph with numbers and a diagram&#10;&#10;Description automatically generated with medium confidence">
            <a:extLst>
              <a:ext uri="{FF2B5EF4-FFF2-40B4-BE49-F238E27FC236}">
                <a16:creationId xmlns:a16="http://schemas.microsoft.com/office/drawing/2014/main" id="{F4291034-31BC-E83F-155A-F338D7CCE2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896" y="3474495"/>
            <a:ext cx="3775146" cy="305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60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31</Words>
  <Application>Microsoft Office PowerPoint</Application>
  <PresentationFormat>Widescreen</PresentationFormat>
  <Paragraphs>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Proxima Nova</vt:lpstr>
      <vt:lpstr>Office Theme</vt:lpstr>
      <vt:lpstr>Global BMC summary – Radii and Mass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Le, An</dc:creator>
  <cp:lastModifiedBy>Le, An</cp:lastModifiedBy>
  <cp:revision>3</cp:revision>
  <dcterms:created xsi:type="dcterms:W3CDTF">2024-10-17T20:45:19Z</dcterms:created>
  <dcterms:modified xsi:type="dcterms:W3CDTF">2024-10-18T15:30:36Z</dcterms:modified>
</cp:coreProperties>
</file>